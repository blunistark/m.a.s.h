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4754880"/>
            <a:ext cx="13716000" cy="457200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996696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A1F44"/>
                </a:solidFill>
              </a:rPr>
              <a:t>M.A.S.H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834640"/>
            <a:ext cx="4846320" cy="64008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944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9699"/>
                </a:solidFill>
              </a:rPr>
              <a:t>Medical Assistant &amp; Services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66666"/>
                </a:solidFill>
              </a:rPr>
              <a:t>6 Specialized AI Agents · Multi-Room Secure Network · Zero Admin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F4F5"/>
                </a:solidFill>
              </a:rPr>
              <a:t>Band of Agents SDK  ·  Supabase  ·  LangGraph  · 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Healthcare is drowning in administrative overhead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651760" cy="5120640"/>
          </a:xfrm>
          <a:prstGeom prst="rect">
            <a:avLst/>
          </a:prstGeom>
          <a:solidFill>
            <a:srgbClr val="F2F6FA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6517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Manual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Schedulers hand-match symptoms to specialties.
Slow, inconsistent, prone to bias.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651760" cy="5120640"/>
          </a:xfrm>
          <a:prstGeom prst="rect">
            <a:avLst/>
          </a:prstGeom>
          <a:solidFill>
            <a:srgbClr val="F2F6FA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34440"/>
            <a:ext cx="26517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EHR Click-Fatigue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2880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Doctors spend 15–20 min per patient clicking
through fragmented history screens.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2651760" cy="5120640"/>
          </a:xfrm>
          <a:prstGeom prst="rect">
            <a:avLst/>
          </a:prstGeom>
          <a:solidFill>
            <a:srgbClr val="F2F6FA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265176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Pharmacy Blindspots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Prescriptions written without checking stock.
Patients turned away at the pharmacy.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234440"/>
            <a:ext cx="2651760" cy="5120640"/>
          </a:xfrm>
          <a:prstGeom prst="rect">
            <a:avLst/>
          </a:prstGeom>
          <a:solidFill>
            <a:srgbClr val="F2F6FA"/>
          </a:solidFill>
          <a:ln w="381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234440"/>
            <a:ext cx="2651760" cy="502920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618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Navigation Anxiety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82880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Patients wander hallways asking staff for
directions, creating lobby congestion.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6400800"/>
            <a:ext cx="11640312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41908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Result: Clinicians lose hours. Patients get frustrated. Errors happen.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M.A.S.H?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A decentralized AI orchestration platform for healthcare clinics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M.A.S.H coordinates 6 specialized AI agents across a secure, multi-room virtual network to automate clinical summaries, doctor matching, and prescription stock checks — eliminating administrative burden with a minimal, jargon-free interface.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48840"/>
            <a:ext cx="3657600" cy="4389120"/>
          </a:xfrm>
          <a:prstGeom prst="rect">
            <a:avLst/>
          </a:prstGeom>
          <a:solidFill>
            <a:srgbClr val="F2F6FA"/>
          </a:solidFill>
          <a:ln w="317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3657600" cy="457200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For Patients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Remote booking via Mobile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Symptom chatbot assigns right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484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In-clinic wayfinding to doctor's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239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No paper forms, no queuing at reception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48840"/>
            <a:ext cx="3657600" cy="4389120"/>
          </a:xfrm>
          <a:prstGeom prst="rect">
            <a:avLst/>
          </a:prstGeom>
          <a:solidFill>
            <a:srgbClr val="F2F6FA"/>
          </a:solidFill>
          <a:ln w="3175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148840"/>
            <a:ext cx="3657600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1762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For Doctors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Auto-compiled patient summary on arrival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72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Medical history, labs &amp; surgeries in one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484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Prescription triggers instant stock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239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Alert if drug unavailable → suggest alternative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148840"/>
            <a:ext cx="3657600" cy="4389120"/>
          </a:xfrm>
          <a:prstGeom prst="rect">
            <a:avLst/>
          </a:prstGeom>
          <a:solidFill>
            <a:srgbClr val="F2F6FA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14884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1762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For Pharmacy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Real-time prescription orders from doctor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172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Stock deducted automatically on fulfillment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484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High-demand drugs flagged for pre-ordering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2394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▸  Human-in-loop approval for out-of-stock 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Multi-room, event-driven agent mesh on the Band of Agents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F44"/>
                </a:solidFill>
              </a:rPr>
              <a:t>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99"/>
                </a:solidFill>
              </a:rPr>
              <a:t>Virtual Rooms (Event Buses)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508760"/>
            <a:ext cx="2103120" cy="6858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5087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Mobile App
(Patient)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331720"/>
            <a:ext cx="2103120" cy="6858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23317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Doctor
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154680"/>
            <a:ext cx="2103120" cy="6858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31546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Pharmacist
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977639"/>
            <a:ext cx="2103120" cy="6858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97763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Express.js
API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417320"/>
            <a:ext cx="3474720" cy="530352"/>
          </a:xfrm>
          <a:prstGeom prst="rect">
            <a:avLst/>
          </a:prstGeom>
          <a:solidFill>
            <a:srgbClr val="E8F8F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149047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99"/>
                </a:solidFill>
              </a:rPr>
              <a:t>Patient-Management-Room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011680"/>
            <a:ext cx="3474720" cy="530352"/>
          </a:xfrm>
          <a:prstGeom prst="rect">
            <a:avLst/>
          </a:prstGeom>
          <a:solidFill>
            <a:srgbClr val="E8F8F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08483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99"/>
                </a:solidFill>
              </a:rPr>
              <a:t>Reception-Navigation-Room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606040"/>
            <a:ext cx="3474720" cy="530352"/>
          </a:xfrm>
          <a:prstGeom prst="rect">
            <a:avLst/>
          </a:prstGeom>
          <a:solidFill>
            <a:srgbClr val="E8F8F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267919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99"/>
                </a:solidFill>
              </a:rPr>
              <a:t>Clinical-Consult-Room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200400"/>
            <a:ext cx="3474720" cy="530352"/>
          </a:xfrm>
          <a:prstGeom prst="rect">
            <a:avLst/>
          </a:prstGeom>
          <a:solidFill>
            <a:srgbClr val="E8F8F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2735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99"/>
                </a:solidFill>
              </a:rPr>
              <a:t>Doctor-Dashboard-Room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794760"/>
            <a:ext cx="3474720" cy="530352"/>
          </a:xfrm>
          <a:prstGeom prst="rect">
            <a:avLst/>
          </a:prstGeom>
          <a:solidFill>
            <a:srgbClr val="E8F8F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386791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99"/>
                </a:solidFill>
              </a:rPr>
              <a:t>Pharmacy-Inventory-Room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4389120"/>
            <a:ext cx="3474720" cy="530352"/>
          </a:xfrm>
          <a:prstGeom prst="rect">
            <a:avLst/>
          </a:prstGeom>
          <a:solidFill>
            <a:srgbClr val="E8F8F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446227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99"/>
                </a:solidFill>
              </a:rPr>
              <a:t>Telemetry-Audit-Room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1417320"/>
            <a:ext cx="3017520" cy="512064"/>
          </a:xfrm>
          <a:prstGeom prst="rect">
            <a:avLst/>
          </a:prstGeom>
          <a:solidFill>
            <a:srgbClr val="E8F9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14904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Registration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011680"/>
            <a:ext cx="3017520" cy="512064"/>
          </a:xfrm>
          <a:prstGeom prst="rect">
            <a:avLst/>
          </a:prstGeom>
          <a:solidFill>
            <a:srgbClr val="E8F9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0848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Patient Mgmt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2606040"/>
            <a:ext cx="3017520" cy="512064"/>
          </a:xfrm>
          <a:prstGeom prst="rect">
            <a:avLst/>
          </a:prstGeom>
          <a:solidFill>
            <a:srgbClr val="E8F9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26791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Navigation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200400"/>
            <a:ext cx="3017520" cy="512064"/>
          </a:xfrm>
          <a:prstGeom prst="rect">
            <a:avLst/>
          </a:prstGeom>
          <a:solidFill>
            <a:srgbClr val="E8F9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2735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Summary 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3794760"/>
            <a:ext cx="3017520" cy="512064"/>
          </a:xfrm>
          <a:prstGeom prst="rect">
            <a:avLst/>
          </a:prstGeom>
          <a:solidFill>
            <a:srgbClr val="E8F9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38679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Medicine Mgmt 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4389120"/>
            <a:ext cx="3017520" cy="512064"/>
          </a:xfrm>
          <a:prstGeom prst="rect">
            <a:avLst/>
          </a:prstGeom>
          <a:solidFill>
            <a:srgbClr val="E8F9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4622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Stock Mgmt 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1508760"/>
            <a:ext cx="1920240" cy="1005840"/>
          </a:xfrm>
          <a:prstGeom prst="rect">
            <a:avLst/>
          </a:prstGeom>
          <a:solidFill>
            <a:srgbClr val="FFF0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0" y="15544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Supabase
(PostgreSQL
+ RLS)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0" y="2697480"/>
            <a:ext cx="1920240" cy="685800"/>
          </a:xfrm>
          <a:prstGeom prst="rect">
            <a:avLst/>
          </a:prstGeom>
          <a:solidFill>
            <a:srgbClr val="F2F6FA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26974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</a:rPr>
              <a:t>Band.ai
SDK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0" y="3520440"/>
            <a:ext cx="1920240" cy="685800"/>
          </a:xfrm>
          <a:prstGeom prst="rect">
            <a:avLst/>
          </a:prstGeom>
          <a:solidFill>
            <a:srgbClr val="F2F6FA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0" y="352044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</a:rPr>
              <a:t>Gemini
LLM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3474720"/>
            <a:ext cx="45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←  Events 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3474720"/>
            <a:ext cx="45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←  Events  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3474720"/>
            <a:ext cx="45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← DB / SDK 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6217920"/>
            <a:ext cx="11795760" cy="43891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236208"/>
            <a:ext cx="11612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Rooms are persistent event buses. Agents subscribe to rooms &amp; communicate exclusively via typed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6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Single-responsibility agents, each owning a clinical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03320" cy="2606040"/>
          </a:xfrm>
          <a:prstGeom prst="rect">
            <a:avLst/>
          </a:prstGeom>
          <a:solidFill>
            <a:srgbClr val="F2F6FA"/>
          </a:solidFill>
          <a:ln w="254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03320" cy="438912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252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Registration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09699"/>
                </a:solidFill>
              </a:rPr>
              <a:t>Smart Clinical Matchmaker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Maintains real-time doctor directory &amp; schedules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Maps symptoms → specialty (NLP rules + 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249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Assigns best available specialist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290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</a:rPr>
              <a:t>SUBSCRIBES: REQUEST_DOCTOR_MATCH
PUBLISHES: DOCTOR_ASSIGNED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3703320" cy="2606040"/>
          </a:xfrm>
          <a:prstGeom prst="rect">
            <a:avLst/>
          </a:prstGeom>
          <a:solidFill>
            <a:srgbClr val="F2F6FA"/>
          </a:solidFill>
          <a:ln w="254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188720"/>
            <a:ext cx="3703320" cy="43891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2252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Patient Mgmt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66420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A1F44"/>
                </a:solidFill>
              </a:rPr>
              <a:t>Queue &amp; Booking 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199339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Processes remote appointments from mobile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3591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Manages live queues with check-ins &amp; rescheduling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7249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Front-line LLM chat interface for the patient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34290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</a:rPr>
              <a:t>SUBSCRIBES: BOOK_APPOINTMENT, PATIENT_CHECK_IN
PUBLISHES: QUEUE_UPDATED, RESCHEDULE_CONFIRMED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188720"/>
            <a:ext cx="3703320" cy="2606040"/>
          </a:xfrm>
          <a:prstGeom prst="rect">
            <a:avLst/>
          </a:prstGeom>
          <a:solidFill>
            <a:srgbClr val="F2F6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188720"/>
            <a:ext cx="370332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2252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Navigation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66420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7AE60"/>
                </a:solidFill>
              </a:rPr>
              <a:t>Wayfinding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99339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Monitors doctor-to-room allocations in real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3591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Calculates step-by-step directions on check-in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7249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Handles room relocations dynamically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290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</a:rPr>
              <a:t>SUBSCRIBES: NAVIGATE_TO_ROOM, DOCTOR_ROOM_CHANGE
PUBLISHES: NAVIGATION_DIRECTIONS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931920"/>
            <a:ext cx="3703320" cy="2606040"/>
          </a:xfrm>
          <a:prstGeom prst="rect">
            <a:avLst/>
          </a:prstGeom>
          <a:solidFill>
            <a:srgbClr val="F2F6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931920"/>
            <a:ext cx="370332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9684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Summary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40740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67E22"/>
                </a:solidFill>
              </a:rPr>
              <a:t>Clinical Record Aggregator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73659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Queries allergies, vitals, lab results, surgeries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1023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LLM compiles a structured patient brief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4681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Saves summary back to Supabase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722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</a:rPr>
              <a:t>SUBSCRIBES: SUMMARIZE_PATIENT_HISTORY
PUBLISHES: PATIENT_HISTORY_COMPILED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931920"/>
            <a:ext cx="3703320" cy="2606040"/>
          </a:xfrm>
          <a:prstGeom prst="rect">
            <a:avLst/>
          </a:prstGeom>
          <a:solidFill>
            <a:srgbClr val="F2F6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3931920"/>
            <a:ext cx="370332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39684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Medicine Mgmt 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440740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C0392B"/>
                </a:solidFill>
              </a:rPr>
              <a:t>Prescription Safety Auditor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79" y="473659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Intercepts every written prescription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79" y="51023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Cross-references live inventory stock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54681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Human-in-loop for out-of-stock alternatives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79" y="61722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</a:rPr>
              <a:t>SUBSCRIBES: PRESCRIPTION_WRITTEN
PUBLISHES: PREPARE_MEDICINE, ALTERNATIVE_REQUESTED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3931920"/>
            <a:ext cx="3703320" cy="2606040"/>
          </a:xfrm>
          <a:prstGeom prst="rect">
            <a:avLst/>
          </a:prstGeom>
          <a:solidFill>
            <a:srgbClr val="F2F6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3931920"/>
            <a:ext cx="3703320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39684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 Stock Mgmt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40740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F39C12"/>
                </a:solidFill>
              </a:rPr>
              <a:t>Inventory &amp; Logistics Controller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73659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Tracks real-time medicine stock levels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1023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Deducts stock on each fulfilled prescription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46811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Flags high-demand drugs for proactive reorder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61722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</a:rPr>
              <a:t>SUBSCRIBES: ROUTE_TO_PHARMA
PUBLISHES: STOCK_DEMAND_ALERT, TRIGGER_REORDER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Virtual Room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Persistent secure event buses — one concern per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2468880"/>
          </a:xfrm>
          <a:prstGeom prst="rect">
            <a:avLst/>
          </a:prstGeom>
          <a:solidFill>
            <a:srgbClr val="F2F6FA"/>
          </a:solidFill>
          <a:ln w="254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384048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2529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Patient-Management-Room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2763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F44"/>
                </a:solidFill>
              </a:rPr>
              <a:t>Agents:  PatientManagementAgent
RegistrationAgent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04288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Booking, rescheduling, doctor availability, appointment queue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49039" cy="2468880"/>
          </a:xfrm>
          <a:prstGeom prst="rect">
            <a:avLst/>
          </a:prstGeom>
          <a:solidFill>
            <a:srgbClr val="F2F6FA"/>
          </a:solidFill>
          <a:ln w="254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49039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22529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Reception-Navigation-Room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62763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F44"/>
                </a:solidFill>
              </a:rPr>
              <a:t>Agents:  PatientNavigationAgent
RegistrationAgent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2304288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Doctor matching at front desk, wayfinding, room-change updates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749039" cy="2468880"/>
          </a:xfrm>
          <a:prstGeom prst="rect">
            <a:avLst/>
          </a:prstGeom>
          <a:solidFill>
            <a:srgbClr val="F2F6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4903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2529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Clinical-Consult-Room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2763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F44"/>
                </a:solidFill>
              </a:rPr>
              <a:t>Agents:  MedicineManagementAgent
SummaryAgent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04288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Patient history compilation, prescription safety handoff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31920"/>
            <a:ext cx="3749039" cy="2468880"/>
          </a:xfrm>
          <a:prstGeom prst="rect">
            <a:avLst/>
          </a:prstGeom>
          <a:solidFill>
            <a:srgbClr val="F2F6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3749039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6849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Doctor-Dashboard-Room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37083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F44"/>
                </a:solidFill>
              </a:rPr>
              <a:t>Agents:  DoctorAssistantAgent
SummaryAgent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047488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Clinical summaries, booking notifications to doctor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931920"/>
            <a:ext cx="3749039" cy="2468880"/>
          </a:xfrm>
          <a:prstGeom prst="rect">
            <a:avLst/>
          </a:prstGeom>
          <a:solidFill>
            <a:srgbClr val="F2F6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3931920"/>
            <a:ext cx="374903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396849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Pharmacy-Inventory-Room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437083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F44"/>
                </a:solidFill>
              </a:rPr>
              <a:t>Agents:  MedicineManagementAgent
StockManagementAgent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399" y="5047488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Stock checks, order routing, reorder alerts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931920"/>
            <a:ext cx="3749039" cy="2468880"/>
          </a:xfrm>
          <a:prstGeom prst="rect">
            <a:avLst/>
          </a:prstGeom>
          <a:solidFill>
            <a:srgbClr val="F2F6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931920"/>
            <a:ext cx="3749039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96849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Telemetry-Audit-Room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370831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A1F44"/>
                </a:solidFill>
              </a:rPr>
              <a:t>Agents:  TelemetryAgent + All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047488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Cross-cutting audit log, observability, compliance trail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4648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Rooms are initialised once at startup. Room IDs are stored in .env.rooms — no dynamic creation.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Workflow 1 — Symptom Triage &amp;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From patient symptom description to confirmed appointment in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325880" cy="1417320"/>
          </a:xfrm>
          <a:prstGeom prst="rect">
            <a:avLst/>
          </a:prstGeom>
          <a:solidFill>
            <a:srgbClr val="F2F6FA"/>
          </a:solidFill>
          <a:ln w="254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Patient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1325880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447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2880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"Chest pain &amp;
palpitations"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431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417320"/>
            <a:ext cx="1325880" cy="1417320"/>
          </a:xfrm>
          <a:prstGeom prst="rect">
            <a:avLst/>
          </a:prstGeom>
          <a:solidFill>
            <a:srgbClr val="E8F8FA"/>
          </a:solidFill>
          <a:ln w="254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1417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699"/>
                </a:solidFill>
              </a:rPr>
              <a:t>Patient
Mgmt
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1417320"/>
            <a:ext cx="1325880" cy="347472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14447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Patient
Mgmt
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39" y="182880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LLM parses
intent &amp;
triggers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9431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417320"/>
            <a:ext cx="1325880" cy="1417320"/>
          </a:xfrm>
          <a:prstGeom prst="rect">
            <a:avLst/>
          </a:prstGeom>
          <a:solidFill>
            <a:srgbClr val="E8F8FA"/>
          </a:solidFill>
          <a:ln w="254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417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699"/>
                </a:solidFill>
              </a:rPr>
              <a:t>Patient-Mgmt
Room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417320"/>
            <a:ext cx="1325880" cy="347472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4447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Patient-Mgmt
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182880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Broadcasts
REQUEST_
DOCTOR_MATCH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19431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1417320"/>
            <a:ext cx="1325880" cy="1417320"/>
          </a:xfrm>
          <a:prstGeom prst="rect">
            <a:avLst/>
          </a:prstGeom>
          <a:solidFill>
            <a:srgbClr val="E8F9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1417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Registration
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1417320"/>
            <a:ext cx="132588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14447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Registration
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182880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Maps symptoms
→ Cardiology
DB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19431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1417320"/>
            <a:ext cx="1325880" cy="1417320"/>
          </a:xfrm>
          <a:prstGeom prst="rect">
            <a:avLst/>
          </a:prstGeom>
          <a:solidFill>
            <a:srgbClr val="FFF0E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417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7E22"/>
                </a:solidFill>
              </a:rPr>
              <a:t>Supabase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1417320"/>
            <a:ext cx="132588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4447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Supabase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182880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Returns
available
Cardiologists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19431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1417320"/>
            <a:ext cx="1325880" cy="1417320"/>
          </a:xfrm>
          <a:prstGeom prst="rect">
            <a:avLst/>
          </a:prstGeom>
          <a:solidFill>
            <a:srgbClr val="E8F9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1417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Registration
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1417320"/>
            <a:ext cx="132588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14447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Registration
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182880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Broadcasts
DOCTOR_
ASSIGNED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19" y="19431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75520" y="1417320"/>
            <a:ext cx="1325880" cy="1417320"/>
          </a:xfrm>
          <a:prstGeom prst="rect">
            <a:avLst/>
          </a:prstGeom>
          <a:solidFill>
            <a:srgbClr val="E8F9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0" y="1417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Registration
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1417320"/>
            <a:ext cx="132588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14447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Registration
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182880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Broadcasts
BOOKING_
CONFIRMED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19" y="19431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75720" y="1417320"/>
            <a:ext cx="1325880" cy="1417320"/>
          </a:xfrm>
          <a:prstGeom prst="rect">
            <a:avLst/>
          </a:prstGeom>
          <a:solidFill>
            <a:srgbClr val="F2F6FA"/>
          </a:solidFill>
          <a:ln w="254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75720" y="14173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Patient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75720" y="1417320"/>
            <a:ext cx="1325880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75720" y="14447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Patient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21440" y="1828800"/>
            <a:ext cx="1234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</a:rPr>
              <a:t>"Dr. Chen,
09:00 AM
confirmed"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017520"/>
            <a:ext cx="1164031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0358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Symptom Classification Rules (Registration Agent — LangGraph triage node)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429000"/>
            <a:ext cx="6400800" cy="384048"/>
          </a:xfrm>
          <a:prstGeom prst="rect">
            <a:avLst/>
          </a:prstGeom>
          <a:solidFill>
            <a:srgbClr val="F2F6FA"/>
          </a:solidFill>
          <a:ln w="127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4838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</a:rPr>
              <a:t>"chest pain", "heart", "cardio"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3429000"/>
            <a:ext cx="5239512" cy="384048"/>
          </a:xfrm>
          <a:prstGeom prst="rect">
            <a:avLst/>
          </a:prstGeom>
          <a:solidFill>
            <a:srgbClr val="F2F6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34838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→  Cardiology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3904487"/>
            <a:ext cx="6400800" cy="384048"/>
          </a:xfrm>
          <a:prstGeom prst="rect">
            <a:avLst/>
          </a:prstGeom>
          <a:solidFill>
            <a:srgbClr val="F2F6FA"/>
          </a:solidFill>
          <a:ln w="127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3959351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</a:rPr>
              <a:t>"fever", "child", "pediatric"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3904487"/>
            <a:ext cx="5239512" cy="384048"/>
          </a:xfrm>
          <a:prstGeom prst="rect">
            <a:avLst/>
          </a:prstGeom>
          <a:solidFill>
            <a:srgbClr val="F2F6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0" y="395935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→  Pediatrics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379975"/>
            <a:ext cx="6400800" cy="384048"/>
          </a:xfrm>
          <a:prstGeom prst="rect">
            <a:avLst/>
          </a:prstGeom>
          <a:solidFill>
            <a:srgbClr val="F2F6FA"/>
          </a:solidFill>
          <a:ln w="127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43483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</a:rPr>
              <a:t>All other inputs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4379975"/>
            <a:ext cx="5239512" cy="384048"/>
          </a:xfrm>
          <a:prstGeom prst="rect">
            <a:avLst/>
          </a:prstGeom>
          <a:solidFill>
            <a:srgbClr val="F2F6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0" y="4434839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→  General Practice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681728"/>
            <a:ext cx="11640312" cy="960120"/>
          </a:xfrm>
          <a:prstGeom prst="rect">
            <a:avLst/>
          </a:prstGeom>
          <a:solidFill>
            <a:srgbClr val="FFF8E8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72744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Proxy Tool Pattern (Key Innovation)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504748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</a:rPr>
              <a:t>PatientManagementAgent creates an asyncio.Future keyed by requestId → broadcasts event to room → awaits the Future (non-blocking).
RegistrationAgent executes the DB query, broadcasts response with same requestId → PatientManagementAgent resolves Future → LLM resumes.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760720"/>
            <a:ext cx="11640312" cy="5029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78815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Result: LLM agent (PatientMgmtAgent) is cleanly decoupled from DB agent (RegistrationAgent). Timeout = 10 s → graceful failure message to patient, not a crash.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Workflow 2 — In-Clinic Arrival &amp; Wayfinding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Patient checks in → instant room directions + clinical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440680"/>
          </a:xfrm>
          <a:prstGeom prst="rect">
            <a:avLst/>
          </a:prstGeom>
          <a:solidFill>
            <a:srgbClr val="F2F6F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99"/>
                </a:solidFill>
              </a:rPr>
              <a:t>Patient Navigation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0078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Patient arrives &amp; checks in on 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95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99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04872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PatientManagementAgent broadcasts NAVIGATE_TO_ROOM
{patientId, doctorId, currentLocation}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723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99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82112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5526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PatientNavigationAgent looks up doctor-room index
(doc-1 → Room 302, 3rd Floor)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849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99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59352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3250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Broadcasts NAVIGATION_DIRECTIONS back to Reception-Navigation-Room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6268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99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36592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80974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Mobile App displays: "Go to elevator → 3rd Floor → Room 302"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40410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99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143000"/>
            <a:ext cx="5669280" cy="5440680"/>
          </a:xfrm>
          <a:prstGeom prst="rect">
            <a:avLst/>
          </a:prstGeom>
          <a:solidFill>
            <a:srgbClr val="F2F6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Clinical Summary Compilation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27632"/>
            <a:ext cx="53035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0078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Doctor triggers SUMMARIZE_PATIENT_HISTORY
{patientId}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295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404872"/>
            <a:ext cx="53035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4780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SummaryAgent queries Supabase medical_records
by patient UUID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0723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182112"/>
            <a:ext cx="53035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25526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Extracts: chronic conditions, allergies,
test results, surgical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849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959352"/>
            <a:ext cx="53035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03250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LLM (Gemini) compiles structured markdown brief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6268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736592"/>
            <a:ext cx="53035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8097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Summary saved to DB + broadcast PATIENT_HISTORY_COMPILED
to Clinical-Consult-Room &amp; Doctor-Dashboard-Room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540410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4648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DB record_type mapping: chronic_condition · allergy (JSON) · test_result (JSON) · surgical_history (JSON)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Workflow 3 — Prescription &amp; Pharmacy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Every prescription is safety-checked before the patient leaves the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94560" cy="6858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Doctor writes
prescription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188720"/>
            <a:ext cx="2194560" cy="685800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1887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Medicine Mgmt
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188720"/>
            <a:ext cx="219456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1887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Stock Mgmt
Agent +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188720"/>
            <a:ext cx="219456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1887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 STOCK →
Pharmacist Room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1188720"/>
            <a:ext cx="219456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1887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 OF STOCK →
Doctor Alert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11680"/>
            <a:ext cx="2194560" cy="4526280"/>
          </a:xfrm>
          <a:prstGeom prst="rect">
            <a:avLst/>
          </a:prstGeom>
          <a:solidFill>
            <a:srgbClr val="F2F6FA"/>
          </a:solidFill>
          <a:ln w="127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PRESCRIPTION_WRITTEN
{patientId, medicine,
dosage, duration}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011680"/>
            <a:ext cx="2194560" cy="4526280"/>
          </a:xfrm>
          <a:prstGeom prst="rect">
            <a:avLst/>
          </a:prstGeom>
          <a:solidFill>
            <a:srgbClr val="F2F6FA"/>
          </a:solidFill>
          <a:ln w="127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10312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Query Supabase
for stock level
Route based
on availability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011680"/>
            <a:ext cx="2194560" cy="4526280"/>
          </a:xfrm>
          <a:prstGeom prst="rect">
            <a:avLst/>
          </a:prstGeom>
          <a:solidFill>
            <a:srgbClr val="F2F6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1031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Checks stock table
Returns level
Deducts stock
Increments
usage counter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011680"/>
            <a:ext cx="2194560" cy="2148840"/>
          </a:xfrm>
          <a:prstGeom prst="rect">
            <a:avLst/>
          </a:prstGeom>
          <a:solidFill>
            <a:srgbClr val="E8F9E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</a:rPr>
              <a:t>✓ In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423160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Broadcast PREPARE_MEDICINE
to Pharmacist-Dashboard
Pharmacist prints
preparation alert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4297680"/>
            <a:ext cx="2194560" cy="2148840"/>
          </a:xfrm>
          <a:prstGeom prst="rect">
            <a:avLst/>
          </a:prstGeom>
          <a:solidFill>
            <a:srgbClr val="FFEB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4343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✗ Out of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709160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Broadcast ALTERNATIVE_MEDICINE_
REQUESTED to Doctor
System PAUSES
→ Human-in-loop
approval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011680"/>
            <a:ext cx="2194560" cy="4526280"/>
          </a:xfrm>
          <a:prstGeom prst="rect">
            <a:avLst/>
          </a:prstGeom>
          <a:solidFill>
            <a:srgbClr val="FFF8E8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High Demand 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423160"/>
            <a:ext cx="21031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If medicine prescribed
≥ 2 times this shift:
Broadcast
STOCK_DEMAND_ALERT
to Pharmacist
→ Prepare extra
  stock in advance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023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023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023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699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743200"/>
            <a:ext cx="274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39C12"/>
                </a:solidFill>
              </a:rPr>
              <a:t>↑ usage &gt;=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End-to-End: Full Patient Visit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All 6 agents coordinating across rooms for a single patient visit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834640" cy="5394960"/>
          </a:xfrm>
          <a:prstGeom prst="rect">
            <a:avLst/>
          </a:prstGeom>
          <a:solidFill>
            <a:srgbClr val="F2F6FA"/>
          </a:solidFill>
          <a:ln w="254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834640" cy="43891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161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REMOTE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3736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Patient describes symptoms on mobile chatbot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3172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PatientMgmtAgent triggers REQUEST_DOCTOR_MATCH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926079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RegistrationAgent matches Cardiology → Dr. 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520439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Appointment written to Supabase → BOOKING_CONFIRMED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88720"/>
            <a:ext cx="2834640" cy="5394960"/>
          </a:xfrm>
          <a:prstGeom prst="rect">
            <a:avLst/>
          </a:prstGeom>
          <a:solidFill>
            <a:srgbClr val="F2F6FA"/>
          </a:solidFill>
          <a:ln w="254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188720"/>
            <a:ext cx="2834640" cy="438912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39" y="12161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IN-CLINIC ARRIVAL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173736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Patient checks in via 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233172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NavigationAgent sends directions: Room 205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2926079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SummaryAgent compiles history from 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3520439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Summary displayed on Doctor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88720"/>
            <a:ext cx="2834640" cy="5394960"/>
          </a:xfrm>
          <a:prstGeom prst="rect">
            <a:avLst/>
          </a:prstGeom>
          <a:solidFill>
            <a:srgbClr val="F2F6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283464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2161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CONSULTATION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73736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Doctor reviews AI-compiled patient brief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33172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Prescribes Rare-Antibiotic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926079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MedicineAgent checks stock → OUT OF STOCK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520439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Doctor notified → selects Ibuprofen instead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188720"/>
            <a:ext cx="2834640" cy="5394960"/>
          </a:xfrm>
          <a:prstGeom prst="rect">
            <a:avLst/>
          </a:prstGeom>
          <a:solidFill>
            <a:srgbClr val="F2F6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188720"/>
            <a:ext cx="283464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2161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PHARMACY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73736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MedicineAgent confirms Ibuprofen in stock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331720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StockAgent deducts 1 unit from inventory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926079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PREPARE_MEDICINE sent to Pharmacist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20439"/>
            <a:ext cx="2606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▸  Patient prescription fulfilled &amp; sent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400800"/>
            <a:ext cx="11640312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41908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Zero manual handoffs. All agents react to events in real-time. Doctors never touch a scheduling tool. Pharmacy never misses a prescription.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The engineering decisions that make M.A.S.H safe and scalable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834640" cy="5394960"/>
          </a:xfrm>
          <a:prstGeom prst="rect">
            <a:avLst/>
          </a:prstGeom>
          <a:solidFill>
            <a:srgbClr val="F2F6FA"/>
          </a:solidFill>
          <a:ln w="317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834640" cy="685800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34440"/>
            <a:ext cx="2688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Persistent Rooms,
Dynamic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2578608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Rooms are long-lived event buses, initialised once at server startup. Individual workflows are transaction-bound with a UUID (requestId). Avoids API overhead from dynamic room creation. Agents always know which room to find.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834640" cy="5394960"/>
          </a:xfrm>
          <a:prstGeom prst="rect">
            <a:avLst/>
          </a:prstGeom>
          <a:solidFill>
            <a:srgbClr val="F2F6FA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83464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1234440"/>
            <a:ext cx="2688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Static Graphs,
Dynamic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1965960"/>
            <a:ext cx="2578608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All backend agents use LangGraph StateGraphs compiled at startup. Graph layout (nodes, edges, safety checks) is fixed — cannot be bypassed by LLM hallucination. Runtime invocation creates isolated execution threads per patient request.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834640" cy="5394960"/>
          </a:xfrm>
          <a:prstGeom prst="rect">
            <a:avLst/>
          </a:prstGeom>
          <a:solidFill>
            <a:srgbClr val="F2F6FA"/>
          </a:solidFill>
          <a:ln w="3175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834640" cy="6858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234440"/>
            <a:ext cx="2688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Proxy Tool Pattern
(Async Future Bridge)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65960"/>
            <a:ext cx="2578608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LLM agents call 'proxy tools' that create asyncio.Futures. The Future is stored by requestId; the LLM awaits non-blocking. Backend DB agents resolve the Future on response. Timeout = 10 s → graceful failure.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188720"/>
            <a:ext cx="2834640" cy="5394960"/>
          </a:xfrm>
          <a:prstGeom prst="rect">
            <a:avLst/>
          </a:prstGeom>
          <a:solidFill>
            <a:srgbClr val="F2F6FA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188720"/>
            <a:ext cx="283464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234440"/>
            <a:ext cx="2688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Human-in-the-Loop
for Clinical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965960"/>
            <a:ext cx="2578608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Prescription workflows pause execution if a drug is out of stock. Resumes only after doctor provides explicit alternative. Structural guarantee — the safety gate cannot be removed without changing the graph.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Production-grade tools across all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94760" cy="5440680"/>
          </a:xfrm>
          <a:prstGeom prst="rect">
            <a:avLst/>
          </a:prstGeom>
          <a:solidFill>
            <a:srgbClr val="F2F6FA"/>
          </a:solidFill>
          <a:ln w="254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94760" cy="43891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70432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Agent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673352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</a:rPr>
              <a:t>Band of Agents SDK (BandSDK)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93976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Multi-room P2P event bus for agent coordination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2788920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3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</a:rPr>
              <a:t>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9544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StateGraph workflows — deterministic agent execution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904487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50207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</a:rPr>
              <a:t>Gemini 1.5 Flash / 2.0 Flash 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25112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LLM for PatientMgmtAgent &amp; SummaryAgent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5020055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65775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</a:rPr>
              <a:t>Python asyncio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0679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Non-blocking concurrency with Future-based proxy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1143000"/>
            <a:ext cx="3794760" cy="5440680"/>
          </a:xfrm>
          <a:prstGeom prst="rect">
            <a:avLst/>
          </a:prstGeom>
          <a:solidFill>
            <a:srgbClr val="F2F6FA"/>
          </a:solidFill>
          <a:ln w="254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1143000"/>
            <a:ext cx="3794760" cy="438912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1170432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Backend Layer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673352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17190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99"/>
                </a:solidFill>
              </a:rPr>
              <a:t>Express.js (TypeScript)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2093976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REST API server for frontend ↔ Supabase communication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788920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283463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99"/>
                </a:solidFill>
              </a:rPr>
              <a:t>Supabase (PostgreSQL)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3209544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Patient records, appointments, prescriptions, inventory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904487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3950207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99"/>
                </a:solidFill>
              </a:rPr>
              <a:t>Row Level Security (RLS)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4325112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Per-user data isolation enforced at DB level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020055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5065775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99"/>
                </a:solidFill>
              </a:rPr>
              <a:t>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59" y="5440679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Containerized backend deployment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143000"/>
            <a:ext cx="3794760" cy="5440680"/>
          </a:xfrm>
          <a:prstGeom prst="rect">
            <a:avLst/>
          </a:prstGeom>
          <a:solidFill>
            <a:srgbClr val="F2F6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1143000"/>
            <a:ext cx="37947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1170432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Frontend Layer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1673352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17190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Vite + TypeScript (React)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093976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Doctor &amp; Pharmacist Desktop dashboard (CarePulse)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2788920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283463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Mobile Interface (Web App)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3209544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Patient-facing chatbot &amp; wayfinding app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3904487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3950207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Socket.IO / WebSockets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325112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Real-time queue &amp; event streaming to UI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66760" y="5020055"/>
            <a:ext cx="3520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5065775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Vercel / Cloudflare Tunnel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440679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</a:rPr>
              <a:t>CDN deployment &amp; secure tunnel for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Impact &amp;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F4F5"/>
                </a:solidFill>
              </a:rPr>
              <a:t>What M.A.S.H eliminates — and what it enables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0" cy="5440680"/>
          </a:xfrm>
          <a:prstGeom prst="rect">
            <a:avLst/>
          </a:prstGeom>
          <a:solidFill>
            <a:srgbClr val="FFEBEB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48640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161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What M.A.S.H Eliminates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✗  Manual symptom-to-specialist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✗  Schedulers managing appointment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✗  EHR tab-switching to build patient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✗  Prescription written without stock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✗  Patients wandering hallways for directions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5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✗  Pharmacist unaware of incoming prescriptions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7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✗  Last-minute drug unavailability surprises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5779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✗  Hard-coded single-room agent bottlenecks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88720"/>
            <a:ext cx="5486400" cy="5440680"/>
          </a:xfrm>
          <a:prstGeom prst="rect">
            <a:avLst/>
          </a:prstGeom>
          <a:solidFill>
            <a:srgbClr val="E8F9E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188720"/>
            <a:ext cx="54864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2161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What M.A.S.H Enables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737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✓  Instant AI-driven specialist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2402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✓  Remote booking from anywhere, any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432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✓  One-glance clinical summary on arrival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4612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✓  Prescription safety audit before leaving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4903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✓  Step-by-step in-clinic navigation on phone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5195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✓  Proactive pharmacy stock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75487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✓  Human-in-loop approval for out-of-stock drugs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257799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</a:rPr>
              <a:t>✓  Horizontally scalable agent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749039"/>
            <a:ext cx="667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1F44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M.A.S.H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234440"/>
            <a:ext cx="4873752" cy="64008"/>
          </a:xfrm>
          <a:prstGeom prst="rect">
            <a:avLst/>
          </a:prstGeom>
          <a:solidFill>
            <a:srgbClr val="009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F4F5"/>
                </a:solidFill>
              </a:rPr>
              <a:t>Medical Assistant &amp; Services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11064240" cy="896112"/>
          </a:xfrm>
          <a:prstGeom prst="rect">
            <a:avLst/>
          </a:prstGeom>
          <a:solidFill>
            <a:srgbClr val="0D2B5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99"/>
                </a:solidFill>
              </a:rPr>
              <a:t>6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039112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Each owns one clinical domain — Registration, Navigation,
Summary, Prescription, Stock, Patient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53512"/>
            <a:ext cx="11064240" cy="896112"/>
          </a:xfrm>
          <a:prstGeom prst="rect">
            <a:avLst/>
          </a:prstGeom>
          <a:solidFill>
            <a:srgbClr val="0D2B5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266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99"/>
                </a:solidFill>
              </a:rPr>
              <a:t>6 Virtual 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026664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Persistent secure event buses — no dynamic creation overhead.
One concern per room, zero coupling between rooms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41064"/>
            <a:ext cx="11064240" cy="896112"/>
          </a:xfrm>
          <a:prstGeom prst="rect">
            <a:avLst/>
          </a:prstGeom>
          <a:solidFill>
            <a:srgbClr val="0D2B5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142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99"/>
                </a:solidFill>
              </a:rPr>
              <a:t>Proxy Tool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014216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LLM agents + DB agents communicate via asyncio.Future +
requestId — decoupled, timeout-safe, horizontally scalable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28616"/>
            <a:ext cx="11064240" cy="896112"/>
          </a:xfrm>
          <a:prstGeom prst="rect">
            <a:avLst/>
          </a:prstGeom>
          <a:solidFill>
            <a:srgbClr val="0D2B5A"/>
          </a:solidFill>
          <a:ln w="19050">
            <a:solidFill>
              <a:srgbClr val="009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0017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99"/>
                </a:solidFill>
              </a:rPr>
              <a:t>Safety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5001768"/>
            <a:ext cx="8046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LangGraph static graphs guarantee prescription safety gates
cannot be bypassed. Human-in-loop built into the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3620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</a:rPr>
              <a:t>Built with Band of Agents SDK  ·  Supabase  ·  LangGraph  ·  Gemini  ·  Express.js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